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6" r:id="rId2"/>
    <p:sldId id="257" r:id="rId3"/>
    <p:sldId id="265" r:id="rId4"/>
    <p:sldId id="267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53F591-3722-4BDD-AC05-530953A9EDA2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96EEAE-AE2D-43E9-9645-D17C00E18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888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96EEAE-AE2D-43E9-9645-D17C00E1849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961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640080"/>
            <a:ext cx="2286000" cy="2286000"/>
          </a:xfrm>
          <a:prstGeom prst="ellipse">
            <a:avLst/>
          </a:prstGeom>
          <a:solidFill>
            <a:srgbClr val="296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9875520" y="2103120"/>
            <a:ext cx="1554480" cy="1554480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7955279" y="3200400"/>
            <a:ext cx="2011680" cy="2011680"/>
          </a:xfrm>
          <a:prstGeom prst="ellipse">
            <a:avLst/>
          </a:prstGeom>
          <a:solidFill>
            <a:srgbClr val="E8A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713232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A0DCD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COURSE REGISTRATION • PREDICTIVE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7315200" cy="1600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3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Smart Course
Registration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7040880" cy="6858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BED3E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with Predictive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66360"/>
            <a:ext cx="694944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Jivansh  •  Koustubh Sarkar  •  Khusi Patra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15000"/>
            <a:ext cx="68580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BECAD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M.Sc. Mathematics | IIT Guwahati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BECAD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Project Objective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898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754880" cy="134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dirty="0">
                <a:solidFill>
                  <a:srgbClr val="1E293B"/>
                </a:solidFill>
                <a:latin typeface="Segoe UI"/>
              </a:rPr>
              <a:t>• Students register blindly without knowing course difficulty</a:t>
            </a:r>
          </a:p>
          <a:p>
            <a:pPr>
              <a:spcAft>
                <a:spcPts val="500"/>
              </a:spcAft>
            </a:pPr>
            <a:r>
              <a:rPr sz="1300" dirty="0">
                <a:solidFill>
                  <a:srgbClr val="1E293B"/>
                </a:solidFill>
                <a:latin typeface="Segoe UI"/>
              </a:rPr>
              <a:t>• No real-time credit limit check leads to overload</a:t>
            </a:r>
          </a:p>
          <a:p>
            <a:pPr>
              <a:spcAft>
                <a:spcPts val="500"/>
              </a:spcAft>
            </a:pPr>
            <a:r>
              <a:rPr sz="1300" dirty="0">
                <a:solidFill>
                  <a:srgbClr val="1E293B"/>
                </a:solidFill>
                <a:latin typeface="Segoe UI"/>
              </a:rPr>
              <a:t>• Pass-out students (&gt;=140 credits) still occupy seats</a:t>
            </a:r>
          </a:p>
          <a:p>
            <a:pPr>
              <a:spcAft>
                <a:spcPts val="500"/>
              </a:spcAft>
            </a:pPr>
            <a:r>
              <a:rPr sz="1300" dirty="0">
                <a:solidFill>
                  <a:srgbClr val="1E293B"/>
                </a:solidFill>
                <a:latin typeface="Segoe UI"/>
              </a:rPr>
              <a:t>• Instructors get enrollment lists days after registration ends</a:t>
            </a:r>
          </a:p>
          <a:p>
            <a:pPr>
              <a:spcAft>
                <a:spcPts val="500"/>
              </a:spcAft>
            </a:pPr>
            <a:r>
              <a:rPr sz="1300" dirty="0">
                <a:solidFill>
                  <a:srgbClr val="1E293B"/>
                </a:solidFill>
                <a:latin typeface="Segoe UI"/>
              </a:rPr>
              <a:t>• </a:t>
            </a:r>
            <a:r>
              <a:rPr lang="en-US" sz="1300" dirty="0">
                <a:solidFill>
                  <a:srgbClr val="1E293B"/>
                </a:solidFill>
                <a:latin typeface="Segoe UI"/>
              </a:rPr>
              <a:t>student may want to drop a course after registration</a:t>
            </a:r>
            <a:endParaRPr sz="1300" dirty="0">
              <a:solidFill>
                <a:srgbClr val="1E293B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3898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37360"/>
            <a:ext cx="4846320" cy="134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dirty="0">
                <a:solidFill>
                  <a:srgbClr val="1E293B"/>
                </a:solidFill>
                <a:latin typeface="Segoe UI"/>
              </a:rPr>
              <a:t>• ML risk tags (Low / Medium / High) shown before enrollment</a:t>
            </a:r>
          </a:p>
          <a:p>
            <a:pPr>
              <a:spcAft>
                <a:spcPts val="500"/>
              </a:spcAft>
            </a:pPr>
            <a:r>
              <a:rPr sz="1300" dirty="0">
                <a:solidFill>
                  <a:srgbClr val="1E293B"/>
                </a:solidFill>
                <a:latin typeface="Segoe UI"/>
              </a:rPr>
              <a:t>• 40-credit cap enforced automatically via SQL validation</a:t>
            </a:r>
          </a:p>
          <a:p>
            <a:pPr>
              <a:spcAft>
                <a:spcPts val="500"/>
              </a:spcAft>
            </a:pPr>
            <a:r>
              <a:rPr sz="1300" dirty="0">
                <a:solidFill>
                  <a:srgbClr val="1E293B"/>
                </a:solidFill>
                <a:latin typeface="Segoe UI"/>
              </a:rPr>
              <a:t>• Graduated students blocked at login itself</a:t>
            </a:r>
          </a:p>
          <a:p>
            <a:pPr>
              <a:spcAft>
                <a:spcPts val="500"/>
              </a:spcAft>
            </a:pPr>
            <a:r>
              <a:rPr sz="1300" dirty="0">
                <a:solidFill>
                  <a:srgbClr val="1E293B"/>
                </a:solidFill>
                <a:latin typeface="Segoe UI"/>
              </a:rPr>
              <a:t>Live instructor roster with student names and emails</a:t>
            </a:r>
          </a:p>
          <a:p>
            <a:pPr>
              <a:spcAft>
                <a:spcPts val="500"/>
              </a:spcAft>
            </a:pPr>
            <a:r>
              <a:rPr lang="en-IN" sz="1300" dirty="0">
                <a:solidFill>
                  <a:srgbClr val="1E293B"/>
                </a:solidFill>
                <a:latin typeface="Segoe UI"/>
              </a:rPr>
              <a:t>• students can drop their registered course</a:t>
            </a:r>
            <a:endParaRPr sz="1300" dirty="0">
              <a:solidFill>
                <a:srgbClr val="475569"/>
              </a:solidFill>
              <a:latin typeface="Segoe U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10698480" cy="2286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22452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Segoe UI"/>
              </a:defRPr>
            </a:pPr>
            <a:r>
              <a:t>Three User Roles in One 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5720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E293B"/>
                </a:solidFill>
                <a:latin typeface="Segoe UI"/>
              </a:rPr>
              <a:t>• Student:</a:t>
            </a:r>
            <a:r>
              <a:rPr sz="1300">
                <a:solidFill>
                  <a:srgbClr val="475569"/>
                </a:solidFill>
                <a:latin typeface="Segoe UI"/>
              </a:rPr>
              <a:t> View profile (CGPA, credits), browse department courses with risk badges, add/drop courses with credit validation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E293B"/>
                </a:solidFill>
                <a:latin typeface="Segoe UI"/>
              </a:rPr>
              <a:t>• Instructor:</a:t>
            </a:r>
            <a:r>
              <a:rPr sz="1300">
                <a:solidFill>
                  <a:srgbClr val="475569"/>
                </a:solidFill>
                <a:latin typeface="Segoe UI"/>
              </a:rPr>
              <a:t> View assigned sections for Fall 2026, see room number, schedule, and enrolled student roster (Name, ID, Email)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E293B"/>
                </a:solidFill>
                <a:latin typeface="Segoe UI"/>
              </a:rPr>
              <a:t>• Admin:</a:t>
            </a:r>
            <a:r>
              <a:rPr sz="1300">
                <a:solidFill>
                  <a:srgbClr val="475569"/>
                </a:solidFill>
                <a:latin typeface="Segoe UI"/>
              </a:rPr>
              <a:t> View list of all registered academic departments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5F6C7D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063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269748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33D"/>
                </a:solidFill>
                <a:latin typeface="Aptos"/>
              </a:rPr>
              <a:t>1  User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32304"/>
            <a:ext cx="2697480" cy="125521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500"/>
              </a:spcAft>
            </a:pPr>
            <a:r>
              <a:rPr sz="1250" b="0" dirty="0">
                <a:solidFill>
                  <a:srgbClr val="232D3C"/>
                </a:solidFill>
                <a:latin typeface="Aptos"/>
              </a:rPr>
              <a:t>HTML templates
</a:t>
            </a:r>
            <a:r>
              <a:rPr lang="en-IN" sz="1250" dirty="0">
                <a:solidFill>
                  <a:srgbClr val="232D3C"/>
                </a:solidFill>
                <a:latin typeface="Aptos"/>
              </a:rPr>
              <a:t>• Login</a:t>
            </a:r>
          </a:p>
          <a:p>
            <a:pPr>
              <a:spcAft>
                <a:spcPts val="500"/>
              </a:spcAft>
            </a:pPr>
            <a:r>
              <a:rPr lang="en-IN" sz="1250" dirty="0">
                <a:solidFill>
                  <a:srgbClr val="232D3C"/>
                </a:solidFill>
                <a:latin typeface="Aptos"/>
              </a:rPr>
              <a:t> • </a:t>
            </a:r>
            <a:r>
              <a:rPr sz="1250" b="0" dirty="0">
                <a:solidFill>
                  <a:srgbClr val="232D3C"/>
                </a:solidFill>
                <a:latin typeface="Aptos"/>
              </a:rPr>
              <a:t>Student </a:t>
            </a:r>
            <a:endParaRPr lang="en-US" sz="1250" b="0" dirty="0">
              <a:solidFill>
                <a:srgbClr val="232D3C"/>
              </a:solidFill>
              <a:latin typeface="Aptos"/>
            </a:endParaRPr>
          </a:p>
          <a:p>
            <a:pPr>
              <a:spcAft>
                <a:spcPts val="500"/>
              </a:spcAft>
            </a:pPr>
            <a:r>
              <a:rPr sz="1250" b="0" dirty="0">
                <a:solidFill>
                  <a:srgbClr val="232D3C"/>
                </a:solidFill>
                <a:latin typeface="Aptos"/>
              </a:rPr>
              <a:t>• Instructor </a:t>
            </a:r>
            <a:endParaRPr lang="en-US" sz="1250" b="0" dirty="0">
              <a:solidFill>
                <a:srgbClr val="232D3C"/>
              </a:solidFill>
              <a:latin typeface="Aptos"/>
            </a:endParaRPr>
          </a:p>
          <a:p>
            <a:pPr>
              <a:spcAft>
                <a:spcPts val="500"/>
              </a:spcAft>
            </a:pPr>
            <a:r>
              <a:rPr sz="1250" b="0" dirty="0">
                <a:solidFill>
                  <a:srgbClr val="232D3C"/>
                </a:solidFill>
                <a:latin typeface="Aptos"/>
              </a:rPr>
              <a:t>• Admin</a:t>
            </a:r>
            <a:r>
              <a:rPr lang="en-IN" sz="1200" dirty="0">
                <a:solidFill>
                  <a:srgbClr val="475569"/>
                </a:solidFill>
                <a:latin typeface="Segoe UI"/>
              </a:rPr>
              <a:t> </a:t>
            </a:r>
            <a:endParaRPr sz="1250" b="0" dirty="0">
              <a:solidFill>
                <a:srgbClr val="232D3C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26280" y="1828800"/>
            <a:ext cx="3063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1993392"/>
            <a:ext cx="269748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33D"/>
                </a:solidFill>
                <a:latin typeface="Aptos"/>
              </a:rPr>
              <a:t>2  Flask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432304"/>
            <a:ext cx="2697480" cy="12527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32D3C"/>
                </a:solidFill>
                <a:latin typeface="Aptos"/>
              </a:rPr>
              <a:t>Routes and session checks
Business rules and SQL queries
Render templates with database results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28800"/>
            <a:ext cx="3063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22208" y="1993392"/>
            <a:ext cx="269748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33D"/>
                </a:solidFill>
                <a:latin typeface="Aptos"/>
              </a:rPr>
              <a:t>3  MySQL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432304"/>
            <a:ext cx="2697480" cy="125521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500"/>
              </a:spcAft>
            </a:pPr>
            <a:r>
              <a:rPr lang="en-IN" sz="1250" dirty="0">
                <a:solidFill>
                  <a:srgbClr val="232D3C"/>
                </a:solidFill>
                <a:latin typeface="Aptos"/>
              </a:rPr>
              <a:t>• </a:t>
            </a:r>
            <a:r>
              <a:rPr sz="1250" b="0" dirty="0">
                <a:solidFill>
                  <a:srgbClr val="232D3C"/>
                </a:solidFill>
                <a:latin typeface="Aptos"/>
              </a:rPr>
              <a:t>Users</a:t>
            </a:r>
            <a:endParaRPr lang="en-US" sz="1250" b="0" dirty="0">
              <a:solidFill>
                <a:srgbClr val="232D3C"/>
              </a:solidFill>
              <a:latin typeface="Aptos"/>
            </a:endParaRPr>
          </a:p>
          <a:p>
            <a:pPr>
              <a:spcAft>
                <a:spcPts val="500"/>
              </a:spcAft>
            </a:pPr>
            <a:r>
              <a:rPr lang="en-IN" sz="1250" dirty="0">
                <a:solidFill>
                  <a:srgbClr val="232D3C"/>
                </a:solidFill>
                <a:latin typeface="Aptos"/>
              </a:rPr>
              <a:t>• S</a:t>
            </a:r>
            <a:r>
              <a:rPr sz="1250" b="0" dirty="0" err="1">
                <a:solidFill>
                  <a:srgbClr val="232D3C"/>
                </a:solidFill>
                <a:latin typeface="Aptos"/>
              </a:rPr>
              <a:t>tudents</a:t>
            </a:r>
            <a:endParaRPr lang="en-US" sz="1250" b="0" dirty="0">
              <a:solidFill>
                <a:srgbClr val="232D3C"/>
              </a:solidFill>
              <a:latin typeface="Aptos"/>
            </a:endParaRPr>
          </a:p>
          <a:p>
            <a:pPr>
              <a:spcAft>
                <a:spcPts val="500"/>
              </a:spcAft>
            </a:pPr>
            <a:r>
              <a:rPr lang="en-IN" sz="1250" dirty="0">
                <a:solidFill>
                  <a:srgbClr val="232D3C"/>
                </a:solidFill>
                <a:latin typeface="Aptos"/>
              </a:rPr>
              <a:t>• I</a:t>
            </a:r>
            <a:r>
              <a:rPr sz="1250" b="0" dirty="0" err="1">
                <a:solidFill>
                  <a:srgbClr val="232D3C"/>
                </a:solidFill>
                <a:latin typeface="Aptos"/>
              </a:rPr>
              <a:t>nstructors</a:t>
            </a:r>
            <a:r>
              <a:rPr sz="1250" b="0" dirty="0">
                <a:solidFill>
                  <a:srgbClr val="232D3C"/>
                </a:solidFill>
                <a:latin typeface="Aptos"/>
              </a:rPr>
              <a:t>
</a:t>
            </a:r>
            <a:r>
              <a:rPr lang="en-IN" sz="1250" dirty="0">
                <a:solidFill>
                  <a:srgbClr val="232D3C"/>
                </a:solidFill>
                <a:latin typeface="Aptos"/>
              </a:rPr>
              <a:t> • </a:t>
            </a:r>
            <a:r>
              <a:rPr sz="1250" b="0" dirty="0">
                <a:solidFill>
                  <a:srgbClr val="232D3C"/>
                </a:solidFill>
                <a:latin typeface="Aptos"/>
              </a:rPr>
              <a:t>Courses</a:t>
            </a:r>
            <a:r>
              <a:rPr lang="en-US" sz="1250" b="0" dirty="0">
                <a:solidFill>
                  <a:srgbClr val="232D3C"/>
                </a:solidFill>
                <a:latin typeface="Aptos"/>
              </a:rPr>
              <a:t> </a:t>
            </a:r>
            <a:r>
              <a:rPr lang="en-IN" sz="1250" b="0" dirty="0">
                <a:solidFill>
                  <a:srgbClr val="232D3C"/>
                </a:solidFill>
                <a:latin typeface="Aptos"/>
              </a:rPr>
              <a:t>,</a:t>
            </a:r>
            <a:r>
              <a:rPr lang="en-IN" sz="1250" dirty="0">
                <a:solidFill>
                  <a:srgbClr val="232D3C"/>
                </a:solidFill>
                <a:latin typeface="Aptos"/>
              </a:rPr>
              <a:t> </a:t>
            </a:r>
            <a:r>
              <a:rPr sz="1250" b="0" dirty="0">
                <a:solidFill>
                  <a:srgbClr val="232D3C"/>
                </a:solidFill>
                <a:latin typeface="Aptos"/>
              </a:rPr>
              <a:t>sections, registrations
</a:t>
            </a:r>
            <a:r>
              <a:rPr lang="en-IN" sz="1250" dirty="0">
                <a:solidFill>
                  <a:srgbClr val="232D3C"/>
                </a:solidFill>
                <a:latin typeface="Aptos"/>
              </a:rPr>
              <a:t> • </a:t>
            </a:r>
            <a:r>
              <a:rPr sz="1250" b="0" dirty="0">
                <a:solidFill>
                  <a:srgbClr val="232D3C"/>
                </a:solidFill>
                <a:latin typeface="Aptos"/>
              </a:rPr>
              <a:t>Stored ML risk scores</a:t>
            </a:r>
          </a:p>
        </p:txBody>
      </p:sp>
      <p:sp>
        <p:nvSpPr>
          <p:cNvPr id="18" name="Chevron 17"/>
          <p:cNvSpPr/>
          <p:nvPr/>
        </p:nvSpPr>
        <p:spPr>
          <a:xfrm>
            <a:off x="3858768" y="2487168"/>
            <a:ext cx="502920" cy="594360"/>
          </a:xfrm>
          <a:prstGeom prst="chevron">
            <a:avLst/>
          </a:prstGeom>
          <a:solidFill>
            <a:srgbClr val="5F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hevron 18"/>
          <p:cNvSpPr/>
          <p:nvPr/>
        </p:nvSpPr>
        <p:spPr>
          <a:xfrm>
            <a:off x="7653527" y="2487168"/>
            <a:ext cx="502920" cy="594360"/>
          </a:xfrm>
          <a:prstGeom prst="chevron">
            <a:avLst/>
          </a:prstGeom>
          <a:solidFill>
            <a:srgbClr val="5F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389120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4233D"/>
                </a:solidFill>
                <a:latin typeface="Aptos"/>
              </a:rPr>
              <a:t>Typical request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92040"/>
            <a:ext cx="10332720" cy="8229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232D3C"/>
                </a:solidFill>
                <a:latin typeface="Aptos"/>
              </a:rPr>
              <a:t>User action → Flask route → parameterized SQL query → MySQL result → Jinja template → rendered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97880"/>
            <a:ext cx="100584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F6C7D"/>
                </a:solidFill>
                <a:latin typeface="Aptos"/>
              </a:rPr>
              <a:t>Predictive analytics currently enters this flow through the ml_risk_scores table.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7A8E634-6230-F445-5C2C-2A45EA493D12}"/>
              </a:ext>
            </a:extLst>
          </p:cNvPr>
          <p:cNvSpPr/>
          <p:nvPr/>
        </p:nvSpPr>
        <p:spPr>
          <a:xfrm>
            <a:off x="305" y="-1179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274320" y="238335"/>
            <a:ext cx="10972800" cy="4678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lang="en-US" sz="2800" b="1" dirty="0">
                <a:solidFill>
                  <a:schemeClr val="bg1"/>
                </a:solidFill>
                <a:latin typeface="Aptos"/>
              </a:rPr>
              <a:t>       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System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F6C7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152" y="3127149"/>
            <a:ext cx="2743200" cy="1572669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9320" y="3291742"/>
            <a:ext cx="237744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14233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320" y="3730654"/>
            <a:ext cx="2377440" cy="7422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lvl="0">
              <a:spcAft>
                <a:spcPts val="500"/>
              </a:spcAft>
            </a:pPr>
            <a:r>
              <a:rPr lang="en-IN" sz="1250" dirty="0">
                <a:solidFill>
                  <a:srgbClr val="232D3C"/>
                </a:solidFill>
                <a:latin typeface="Aptos"/>
              </a:rPr>
              <a:t>•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232D3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user_id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232D3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srgbClr val="232D3C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232D3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email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srgbClr val="232D3C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232D3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• role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1512" y="3127150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72680" y="3291742"/>
            <a:ext cx="237744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14233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Students / Instructors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2680" y="3730654"/>
            <a:ext cx="2377440" cy="4297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232D3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Role-specific profile tables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4872" y="3127150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96040" y="3291742"/>
            <a:ext cx="237744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14233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Courses / Sections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040" y="3730654"/>
            <a:ext cx="2377440" cy="4297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232D3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Course catalog and scheduled offerings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7" y="1323904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73175" y="1488495"/>
            <a:ext cx="237744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14233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Registrations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75" y="1927408"/>
            <a:ext cx="2377440" cy="4297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232D3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Student ↔ section/course
Status, grade, dates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2424" y="5335475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793592" y="5500066"/>
            <a:ext cx="237744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14233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ml_risk_scores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93592" y="5938979"/>
            <a:ext cx="2377440" cy="4297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232D3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Student + course + semester
Risk level + timestamp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291352" y="3703222"/>
            <a:ext cx="1280160" cy="0"/>
          </a:xfrm>
          <a:prstGeom prst="line">
            <a:avLst/>
          </a:prstGeom>
          <a:ln w="19050">
            <a:solidFill>
              <a:srgbClr val="5F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314712" y="3703222"/>
            <a:ext cx="1280160" cy="0"/>
          </a:xfrm>
          <a:prstGeom prst="line">
            <a:avLst/>
          </a:prstGeom>
          <a:ln w="19050">
            <a:solidFill>
              <a:srgbClr val="5F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cxnSpLocks/>
            <a:stCxn id="10" idx="0"/>
            <a:endCxn id="18" idx="2"/>
          </p:cNvCxnSpPr>
          <p:nvPr/>
        </p:nvCxnSpPr>
        <p:spPr>
          <a:xfrm flipV="1">
            <a:off x="5943112" y="2466904"/>
            <a:ext cx="495" cy="660246"/>
          </a:xfrm>
          <a:prstGeom prst="line">
            <a:avLst/>
          </a:prstGeom>
          <a:ln w="19050">
            <a:solidFill>
              <a:srgbClr val="5F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cxnSpLocks/>
            <a:stCxn id="14" idx="2"/>
            <a:endCxn id="22" idx="0"/>
          </p:cNvCxnSpPr>
          <p:nvPr/>
        </p:nvCxnSpPr>
        <p:spPr>
          <a:xfrm flipH="1">
            <a:off x="9964024" y="4270150"/>
            <a:ext cx="2448" cy="1065325"/>
          </a:xfrm>
          <a:prstGeom prst="line">
            <a:avLst/>
          </a:prstGeom>
          <a:ln w="19050">
            <a:solidFill>
              <a:srgbClr val="5F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E7AF9F46-BCE9-7513-3E1B-58409FE3D67D}"/>
              </a:ext>
            </a:extLst>
          </p:cNvPr>
          <p:cNvSpPr/>
          <p:nvPr/>
        </p:nvSpPr>
        <p:spPr>
          <a:xfrm>
            <a:off x="305" y="-1179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838204" y="229411"/>
            <a:ext cx="10972800" cy="4678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Database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System Design — Business Rules &amp; Constraints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2286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898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Segoe UI"/>
              </a:defRPr>
            </a:pPr>
            <a:r>
              <a:t>Rule 1: 40-Credit Semester 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E293B"/>
                </a:solidFill>
                <a:latin typeface="Segoe UI"/>
              </a:rPr>
              <a:t>• Before adding a course, system calculates:</a:t>
            </a:r>
            <a:r>
              <a:rPr sz="1300">
                <a:solidFill>
                  <a:srgbClr val="475569"/>
                </a:solidFill>
                <a:latin typeface="Segoe UI"/>
              </a:rPr>
              <a:t> SUM(registered credits) + new course credits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• If total &gt; 40, registration is blocked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E293B"/>
                </a:solidFill>
                <a:latin typeface="Segoe UI"/>
              </a:rPr>
              <a:t>• Flash message:</a:t>
            </a:r>
            <a:r>
              <a:rPr sz="1300">
                <a:solidFill>
                  <a:srgbClr val="475569"/>
                </a:solidFill>
                <a:latin typeface="Segoe UI"/>
              </a:rPr>
              <a:t> 'Cannot register. Maximum 40 credits allowed per semester'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2286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3898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Segoe UI"/>
              </a:defRPr>
            </a:pPr>
            <a:r>
              <a:t>Rule 2: Graduation Block (140 Credits)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3736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• During login, system checks students.total_credits_completed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• If credits &gt;= 140, session is destroyed immediately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E293B"/>
                </a:solidFill>
                <a:latin typeface="Segoe UI"/>
              </a:rPr>
              <a:t>• Flash message:</a:t>
            </a:r>
            <a:r>
              <a:rPr sz="1300">
                <a:solidFill>
                  <a:srgbClr val="475569"/>
                </a:solidFill>
                <a:latin typeface="Segoe UI"/>
              </a:rPr>
              <a:t> 'Your course duration is over (Graduated)'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5228" y="3840480"/>
            <a:ext cx="5120640" cy="2468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73828" y="39502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Segoe UI"/>
              </a:defRPr>
            </a:pPr>
            <a:r>
              <a:t>Rule 3: Department Filtering &amp; No Duplicates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3828" y="4297680"/>
            <a:ext cx="4754880" cy="756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dirty="0">
                <a:solidFill>
                  <a:srgbClr val="1E293B"/>
                </a:solidFill>
                <a:latin typeface="Segoe UI"/>
              </a:rPr>
              <a:t>• Students only see courses from their own department</a:t>
            </a:r>
          </a:p>
          <a:p>
            <a:pPr>
              <a:spcAft>
                <a:spcPts val="500"/>
              </a:spcAft>
            </a:pPr>
            <a:r>
              <a:rPr sz="1300" dirty="0">
                <a:solidFill>
                  <a:srgbClr val="1E293B"/>
                </a:solidFill>
                <a:latin typeface="Segoe UI"/>
              </a:rPr>
              <a:t>• Already completed or registered courses are hidden from the catalog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System Design — ML Risk Prediction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291840" cy="5029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898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Segoe UI"/>
              </a:defRPr>
            </a:pPr>
            <a:r>
              <a:t>5 Input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• 1. Student CGPA (0.0 to 10.0)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• 2. Total Credits Completed (academic seniority)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• 3. Course Credit Weight (2 to 8 credits)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• 4. Course Difficulty Index (avg grade of past students)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• 5. Prerequisite Grade (student's grade in prereq course)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• Missing values filled with default mean (7.0)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383280" cy="5029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3898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Segoe UI"/>
              </a:defRPr>
            </a:pPr>
            <a:r>
              <a:t>How It Works (ml_model.py)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737360"/>
            <a:ext cx="3017520" cy="3311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 dirty="0">
                <a:solidFill>
                  <a:srgbClr val="1E293B"/>
                </a:solidFill>
                <a:latin typeface="Segoe UI"/>
              </a:rPr>
              <a:t>• Step 1: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 Connect to MySQL</a:t>
            </a:r>
            <a:endParaRPr lang="en-US" sz="1200" dirty="0">
              <a:solidFill>
                <a:srgbClr val="475569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E293B"/>
                </a:solidFill>
                <a:latin typeface="Segoe UI"/>
              </a:rPr>
              <a:t>• Step 2: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 Read registrations, students, courses, prerequisites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E293B"/>
                </a:solidFill>
                <a:latin typeface="Segoe UI"/>
              </a:rPr>
              <a:t>• Step 3: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 Convert grades to numbers (AA=10, FF=0</a:t>
            </a:r>
            <a:r>
              <a:rPr lang="en-US" sz="1200" dirty="0">
                <a:solidFill>
                  <a:srgbClr val="475569"/>
                </a:solidFill>
                <a:latin typeface="Segoe UI"/>
              </a:rPr>
              <a:t>, </a:t>
            </a:r>
            <a:r>
              <a:rPr lang="en-US" sz="1200" dirty="0" err="1">
                <a:solidFill>
                  <a:srgbClr val="475569"/>
                </a:solidFill>
                <a:latin typeface="Segoe UI"/>
              </a:rPr>
              <a:t>etc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)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E293B"/>
                </a:solidFill>
                <a:latin typeface="Segoe UI"/>
              </a:rPr>
              <a:t>• Step 4: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 Calculate course difficulty = avg grade per course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E293B"/>
                </a:solidFill>
                <a:latin typeface="Segoe UI"/>
              </a:rPr>
              <a:t>• Step 5: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 Normalize features with </a:t>
            </a:r>
            <a:r>
              <a:rPr sz="1200" dirty="0" err="1">
                <a:solidFill>
                  <a:srgbClr val="475569"/>
                </a:solidFill>
                <a:latin typeface="Segoe UI"/>
              </a:rPr>
              <a:t>StandardScaler</a:t>
            </a:r>
            <a:endParaRPr sz="1200" dirty="0">
              <a:solidFill>
                <a:srgbClr val="475569"/>
              </a:solidFill>
              <a:latin typeface="Segoe UI"/>
            </a:endParaRP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E293B"/>
                </a:solidFill>
                <a:latin typeface="Segoe UI"/>
              </a:rPr>
              <a:t>• Step 6: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 Train </a:t>
            </a:r>
            <a:r>
              <a:rPr sz="1200" dirty="0" err="1">
                <a:solidFill>
                  <a:srgbClr val="475569"/>
                </a:solidFill>
                <a:latin typeface="Segoe UI"/>
              </a:rPr>
              <a:t>LogisticRegression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 (3 classes)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E293B"/>
                </a:solidFill>
                <a:latin typeface="Segoe UI"/>
              </a:rPr>
              <a:t>• Step 7: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 Predict risk for all active student-course pairs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E293B"/>
                </a:solidFill>
                <a:latin typeface="Segoe UI"/>
              </a:rPr>
              <a:t>• Step 8: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 Save predictions to </a:t>
            </a:r>
            <a:r>
              <a:rPr sz="1200" dirty="0" err="1">
                <a:solidFill>
                  <a:srgbClr val="475569"/>
                </a:solidFill>
                <a:latin typeface="Segoe UI"/>
              </a:rPr>
              <a:t>ml_risk_scores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80160"/>
            <a:ext cx="3291840" cy="5029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3898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Segoe UI"/>
              </a:defRPr>
            </a:pPr>
            <a:r>
              <a:t>3 Risk Categories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7373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 dirty="0">
                <a:solidFill>
                  <a:srgbClr val="1E293B"/>
                </a:solidFill>
                <a:latin typeface="Segoe UI"/>
              </a:rPr>
              <a:t>• Low Risk (Green badge):</a:t>
            </a:r>
            <a:r>
              <a:rPr sz="1300" dirty="0">
                <a:solidFill>
                  <a:srgbClr val="475569"/>
                </a:solidFill>
                <a:latin typeface="Segoe UI"/>
              </a:rPr>
              <a:t> Student likely to score AA/AB/BB</a:t>
            </a: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E293B"/>
                </a:solidFill>
                <a:latin typeface="Segoe UI"/>
              </a:rPr>
              <a:t>• Medium Risk (Amber badge):</a:t>
            </a:r>
            <a:r>
              <a:rPr sz="1300" dirty="0">
                <a:solidFill>
                  <a:srgbClr val="475569"/>
                </a:solidFill>
                <a:latin typeface="Segoe UI"/>
              </a:rPr>
              <a:t> Student likely to score BC/CC</a:t>
            </a: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E293B"/>
                </a:solidFill>
                <a:latin typeface="Segoe UI"/>
              </a:rPr>
              <a:t>• High Risk (Red badge):</a:t>
            </a:r>
            <a:r>
              <a:rPr sz="1300" dirty="0">
                <a:solidFill>
                  <a:srgbClr val="475569"/>
                </a:solidFill>
                <a:latin typeface="Segoe UI"/>
              </a:rPr>
              <a:t> Student likely to score CD/DD/FF</a:t>
            </a:r>
          </a:p>
          <a:p>
            <a:pPr>
              <a:spcAft>
                <a:spcPts val="500"/>
              </a:spcAft>
            </a:pPr>
            <a:r>
              <a:rPr sz="1300" dirty="0">
                <a:solidFill>
                  <a:srgbClr val="1E293B"/>
                </a:solidFill>
                <a:latin typeface="Segoe UI"/>
              </a:rPr>
              <a:t>• Displayed on student dashboard next to each course</a:t>
            </a:r>
          </a:p>
          <a:p>
            <a:pPr>
              <a:spcAft>
                <a:spcPts val="500"/>
              </a:spcAft>
            </a:pPr>
            <a:r>
              <a:rPr sz="1300" dirty="0">
                <a:solidFill>
                  <a:srgbClr val="1E293B"/>
                </a:solidFill>
                <a:latin typeface="Segoe UI"/>
              </a:rPr>
              <a:t>• Helps students make informed decisions before enrolling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Technology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291840" cy="2286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898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Segoe UI"/>
              </a:defRPr>
            </a:pPr>
            <a:r>
              <a:t>Database: MySQL 8.0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926080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dirty="0">
                <a:solidFill>
                  <a:srgbClr val="1E293B"/>
                </a:solidFill>
                <a:latin typeface="Segoe UI"/>
              </a:rPr>
              <a:t>• Foreign key constraints across all 11 tables</a:t>
            </a: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1E293B"/>
                </a:solidFill>
                <a:latin typeface="Segoe UI"/>
              </a:rPr>
              <a:t>• ENUM types for role and status validation</a:t>
            </a: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1E293B"/>
                </a:solidFill>
                <a:latin typeface="Segoe UI"/>
              </a:rPr>
              <a:t>• Handles 1,282 users and 20,009+ registrations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383280" cy="2286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3898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Segoe UI"/>
              </a:defRPr>
            </a:pPr>
            <a:r>
              <a:t>Backend: Python 3 + Flask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737360"/>
            <a:ext cx="3017520" cy="102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dirty="0">
                <a:solidFill>
                  <a:srgbClr val="1E293B"/>
                </a:solidFill>
                <a:latin typeface="Segoe UI"/>
              </a:rPr>
              <a:t>• Flask web framework for HTTP routing</a:t>
            </a: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1E293B"/>
                </a:solidFill>
                <a:latin typeface="Segoe UI"/>
              </a:rPr>
              <a:t>• Signed session cookies (</a:t>
            </a:r>
            <a:r>
              <a:rPr sz="1200" dirty="0" err="1">
                <a:solidFill>
                  <a:srgbClr val="1E293B"/>
                </a:solidFill>
                <a:latin typeface="Segoe UI"/>
              </a:rPr>
              <a:t>secret_key</a:t>
            </a:r>
            <a:r>
              <a:rPr sz="1200" dirty="0">
                <a:solidFill>
                  <a:srgbClr val="1E293B"/>
                </a:solidFill>
                <a:latin typeface="Segoe UI"/>
              </a:rPr>
              <a:t> )</a:t>
            </a: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1E293B"/>
                </a:solidFill>
                <a:latin typeface="Segoe UI"/>
              </a:rPr>
              <a:t>• Flash messages for user feedback</a:t>
            </a:r>
          </a:p>
          <a:p>
            <a:pPr>
              <a:spcAft>
                <a:spcPts val="500"/>
              </a:spcAft>
            </a:pPr>
            <a:endParaRPr sz="1200" dirty="0">
              <a:solidFill>
                <a:srgbClr val="1E293B"/>
              </a:solidFill>
              <a:latin typeface="Segoe U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138160" y="1280160"/>
            <a:ext cx="3291840" cy="2286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3898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Segoe UI"/>
              </a:defRPr>
            </a:pPr>
            <a:r>
              <a:rPr dirty="0"/>
              <a:t>ML &amp; Data: scikit-learn + Pandas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856034"/>
            <a:ext cx="2926080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dirty="0">
                <a:solidFill>
                  <a:srgbClr val="1E293B"/>
                </a:solidFill>
                <a:latin typeface="Segoe UI"/>
              </a:rPr>
              <a:t>• Pandas for data extraction and table merging</a:t>
            </a: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1E293B"/>
                </a:solidFill>
                <a:latin typeface="Segoe UI"/>
              </a:rPr>
              <a:t>• </a:t>
            </a:r>
            <a:r>
              <a:rPr sz="1200" dirty="0" err="1">
                <a:solidFill>
                  <a:srgbClr val="1E293B"/>
                </a:solidFill>
                <a:latin typeface="Segoe UI"/>
              </a:rPr>
              <a:t>StandardScaler</a:t>
            </a:r>
            <a:r>
              <a:rPr sz="1200" dirty="0">
                <a:solidFill>
                  <a:srgbClr val="1E293B"/>
                </a:solidFill>
                <a:latin typeface="Segoe UI"/>
              </a:rPr>
              <a:t> for feature normalization</a:t>
            </a: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1E293B"/>
                </a:solidFill>
                <a:latin typeface="Segoe UI"/>
              </a:rPr>
              <a:t>• </a:t>
            </a:r>
            <a:r>
              <a:rPr sz="1200" dirty="0" err="1">
                <a:solidFill>
                  <a:srgbClr val="1E293B"/>
                </a:solidFill>
                <a:latin typeface="Segoe UI"/>
              </a:rPr>
              <a:t>LogisticRegression</a:t>
            </a:r>
            <a:r>
              <a:rPr sz="1200" dirty="0">
                <a:solidFill>
                  <a:srgbClr val="1E293B"/>
                </a:solidFill>
                <a:latin typeface="Segoe UI"/>
              </a:rPr>
              <a:t> for multi-class prediction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5120640" cy="2468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9502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Segoe UI"/>
              </a:defRPr>
            </a:pPr>
            <a:r>
              <a:t>Frontend: Jinja2 + Vanilla CSS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2976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dirty="0">
                <a:solidFill>
                  <a:srgbClr val="1E293B"/>
                </a:solidFill>
                <a:latin typeface="Segoe UI"/>
              </a:rPr>
              <a:t>• Jinja2 server-side templates ({% for %}, {% if %})</a:t>
            </a: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1E293B"/>
                </a:solidFill>
                <a:latin typeface="Segoe UI"/>
              </a:rPr>
              <a:t>• Dynamic rendering of tables, risk badges, flash alerts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E293B"/>
                </a:solidFill>
                <a:latin typeface="Segoe UI"/>
              </a:rPr>
              <a:t>• CSS classes: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 .low-risk (green), .medium-risk (amber), .high-risk (red)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E293B"/>
                </a:solidFill>
                <a:latin typeface="Segoe UI"/>
              </a:rPr>
              <a:t>• Confirm dialog on drop action: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 onclick="return confirm(...)"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840480"/>
            <a:ext cx="5212080" cy="2468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3950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Segoe UI"/>
              </a:defRPr>
            </a:pPr>
            <a:r>
              <a:t>Security &amp; Connectors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0788" y="4330566"/>
            <a:ext cx="4846320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 dirty="0">
                <a:solidFill>
                  <a:srgbClr val="1E293B"/>
                </a:solidFill>
                <a:latin typeface="Segoe UI"/>
              </a:rPr>
              <a:t>• </a:t>
            </a:r>
            <a:r>
              <a:rPr sz="1200" b="1" dirty="0" err="1">
                <a:solidFill>
                  <a:srgbClr val="1E293B"/>
                </a:solidFill>
                <a:latin typeface="Segoe UI"/>
              </a:rPr>
              <a:t>mysql</a:t>
            </a:r>
            <a:r>
              <a:rPr sz="1200" b="1" dirty="0">
                <a:solidFill>
                  <a:srgbClr val="1E293B"/>
                </a:solidFill>
                <a:latin typeface="Segoe UI"/>
              </a:rPr>
              <a:t>-connector-python: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 all queries use %s parameterized placeholders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E293B"/>
                </a:solidFill>
                <a:latin typeface="Segoe UI"/>
              </a:rPr>
              <a:t>• Role-based guard on every route: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475569"/>
                </a:solidFill>
                <a:latin typeface="Segoe UI"/>
              </a:rPr>
              <a:t>session.get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('role') check</a:t>
            </a:r>
          </a:p>
          <a:p>
            <a:pPr>
              <a:spcAft>
                <a:spcPts val="500"/>
              </a:spcAft>
            </a:pPr>
            <a:endParaRPr sz="1200" dirty="0">
              <a:solidFill>
                <a:srgbClr val="1E293B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Live Demo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898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Segoe UI"/>
              </a:defRPr>
            </a:pPr>
            <a:r>
              <a:rPr dirty="0"/>
              <a:t>Graduated Student Login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E293B"/>
                </a:solidFill>
                <a:latin typeface="Segoe UI"/>
              </a:rPr>
              <a:t>• Email:</a:t>
            </a:r>
            <a:r>
              <a:rPr sz="1300">
                <a:solidFill>
                  <a:srgbClr val="475569"/>
                </a:solidFill>
                <a:latin typeface="Segoe UI"/>
              </a:rPr>
              <a:t> kamal.iyer.83@iitg.ac.in  |  Password: hashed_stu_0083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E293B"/>
                </a:solidFill>
                <a:latin typeface="Segoe UI"/>
              </a:rPr>
              <a:t>• Result:</a:t>
            </a:r>
            <a:r>
              <a:rPr sz="1300">
                <a:solidFill>
                  <a:srgbClr val="475569"/>
                </a:solidFill>
                <a:latin typeface="Segoe UI"/>
              </a:rPr>
              <a:t> Login denied — flash 'Your course duration is over (Graduated)'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3898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Segoe UI"/>
              </a:defRPr>
            </a:pPr>
            <a:r>
              <a:rPr dirty="0"/>
              <a:t>Active Student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373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E293B"/>
                </a:solidFill>
                <a:latin typeface="Segoe UI"/>
              </a:rPr>
              <a:t>• Email:</a:t>
            </a:r>
            <a:r>
              <a:rPr sz="1300">
                <a:solidFill>
                  <a:srgbClr val="475569"/>
                </a:solidFill>
                <a:latin typeface="Segoe UI"/>
              </a:rPr>
              <a:t> tarun.ghosh.244@iitg.ac.in  |  Password: hashed_stu_0244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• See profile (CGPA 8.10, 80 credits), registered courses, risk badges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512064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1272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Segoe UI"/>
              </a:defRPr>
            </a:pPr>
            <a:r>
              <a:rPr dirty="0"/>
              <a:t>Add Course + 40-Credit Cap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7472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• Add courses until total exceeds 40 credits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• System blocks and shows 'Maximum 40 credits allowed' error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017520"/>
            <a:ext cx="521208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31272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Segoe UI"/>
              </a:defRPr>
            </a:pPr>
            <a:r>
              <a:rPr dirty="0"/>
              <a:t>Drop a Course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4747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• Click Drop on a registered course, confirm the prompt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• Course removed from list, credits freed, status = 'Dropped' in DB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54880"/>
            <a:ext cx="5120640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48646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Segoe UI"/>
              </a:defRPr>
            </a:pPr>
            <a:r>
              <a:rPr dirty="0"/>
              <a:t>Instructor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2120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 dirty="0">
                <a:solidFill>
                  <a:srgbClr val="1E293B"/>
                </a:solidFill>
                <a:latin typeface="Segoe UI"/>
              </a:rPr>
              <a:t>• Email:</a:t>
            </a:r>
            <a:r>
              <a:rPr sz="1300" dirty="0">
                <a:solidFill>
                  <a:srgbClr val="475569"/>
                </a:solidFill>
                <a:latin typeface="Segoe UI"/>
              </a:rPr>
              <a:t> kapoor.3@iitg.ac.in  |  Password: hashed_prof_0003</a:t>
            </a:r>
          </a:p>
          <a:p>
            <a:pPr>
              <a:spcAft>
                <a:spcPts val="500"/>
              </a:spcAft>
            </a:pPr>
            <a:r>
              <a:rPr sz="1300" dirty="0">
                <a:solidFill>
                  <a:srgbClr val="1E293B"/>
                </a:solidFill>
                <a:latin typeface="Segoe UI"/>
              </a:rPr>
              <a:t>• See assigned sections, room numbers, schedule, student roster with emails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754880"/>
            <a:ext cx="5212080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48646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Segoe UI"/>
              </a:defRPr>
            </a:pPr>
            <a:r>
              <a:rPr dirty="0"/>
              <a:t>Admin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2120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E293B"/>
                </a:solidFill>
                <a:latin typeface="Segoe UI"/>
              </a:rPr>
              <a:t>• Email:</a:t>
            </a:r>
            <a:r>
              <a:rPr sz="1300">
                <a:solidFill>
                  <a:srgbClr val="475569"/>
                </a:solidFill>
                <a:latin typeface="Segoe UI"/>
              </a:rPr>
              <a:t> admin@iitg.ac.in  |  Password: hashed_admin_01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• See list of all active departments with IDs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1091</Words>
  <Application>Microsoft Office PowerPoint</Application>
  <PresentationFormat>Widescreen</PresentationFormat>
  <Paragraphs>130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KOUSTUBH SARKAR</dc:creator>
  <cp:keywords/>
  <dc:description>generated using python-pptx</dc:description>
  <cp:lastModifiedBy>Rohit Sarkar</cp:lastModifiedBy>
  <cp:revision>1</cp:revision>
  <dcterms:created xsi:type="dcterms:W3CDTF">2013-01-27T09:14:16Z</dcterms:created>
  <dcterms:modified xsi:type="dcterms:W3CDTF">2026-10-29T18:59:04Z</dcterms:modified>
  <cp:category/>
</cp:coreProperties>
</file>