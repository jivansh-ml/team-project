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640080"/>
            <a:ext cx="2286000" cy="2286000"/>
          </a:xfrm>
          <a:prstGeom prst="ellipse">
            <a:avLst/>
          </a:prstGeom>
          <a:solidFill>
            <a:srgbClr val="296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2103120"/>
            <a:ext cx="1554480" cy="1554480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55279" y="3200400"/>
            <a:ext cx="2011680" cy="2011680"/>
          </a:xfrm>
          <a:prstGeom prst="ellipse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71323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A0DCD5"/>
                </a:solidFill>
                <a:latin typeface="Aptos"/>
              </a:rPr>
              <a:t>COURSE REGISTRATION • PREDICTIVE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7315200" cy="1600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Smart Course
Registration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7040880" cy="6858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0">
                <a:solidFill>
                  <a:srgbClr val="BED3EE"/>
                </a:solidFill>
                <a:latin typeface="Aptos"/>
              </a:rPr>
              <a:t>with Predictive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66360"/>
            <a:ext cx="694944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Jivansh  •  Koustubh Sarkar  •  Khusi Patra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15000"/>
            <a:ext cx="68580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BECADA"/>
                </a:solidFill>
                <a:latin typeface="Aptos"/>
              </a:rPr>
              <a:t>M.Sc. Mathematics | IIT Guwahati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BECADA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4233D"/>
                </a:solidFill>
                <a:latin typeface="Aptos"/>
              </a:rPr>
              <a:t>Problem Statement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8813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F6C7D"/>
                </a:solidFill>
                <a:latin typeface="Aptos"/>
              </a:rPr>
              <a:t>Why combine course registration with predictive analytics?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85800" cy="54864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5F6C7D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73152" cy="1828800"/>
          </a:xfrm>
          <a:prstGeom prst="rect">
            <a:avLst/>
          </a:prstGeom>
          <a:solidFill>
            <a:srgbClr val="296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56232"/>
            <a:ext cx="310896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33D"/>
                </a:solidFill>
                <a:latin typeface="Aptos"/>
              </a:rPr>
              <a:t>Registration complexity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95144"/>
            <a:ext cx="3108960" cy="11155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32D3C"/>
                </a:solidFill>
                <a:latin typeface="Aptos"/>
              </a:rPr>
              <a:t>Students need a clear view of registered courses, available sections, credits and schedules.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916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691640"/>
            <a:ext cx="73152" cy="1828800"/>
          </a:xfrm>
          <a:prstGeom prst="rect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56232"/>
            <a:ext cx="310896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33D"/>
                </a:solidFill>
                <a:latin typeface="Aptos"/>
              </a:rPr>
              <a:t>Academic risk is not always visible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95144"/>
            <a:ext cx="3108960" cy="11155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32D3C"/>
                </a:solidFill>
                <a:latin typeface="Aptos"/>
              </a:rPr>
              <a:t>A registration decision can be made without a clear warning that a course may be challenging.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6916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5864" y="1691640"/>
            <a:ext cx="73152" cy="18288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1856232"/>
            <a:ext cx="310896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33D"/>
                </a:solidFill>
                <a:latin typeface="Aptos"/>
              </a:rPr>
              <a:t>Need for a joined-up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2295144"/>
            <a:ext cx="3108960" cy="11155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32D3C"/>
                </a:solidFill>
                <a:latin typeface="Aptos"/>
              </a:rPr>
              <a:t>Bring student, instructor and administrator views together with course and registration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69080"/>
            <a:ext cx="1060704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4233D"/>
                </a:solidFill>
                <a:latin typeface="Aptos"/>
              </a:rPr>
              <a:t>Project idea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90288"/>
            <a:ext cx="10332720" cy="960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232D3C"/>
                </a:solidFill>
                <a:latin typeface="Aptos"/>
              </a:rPr>
              <a:t>Build a role-based course registration web application and display stored ML-based course-risk levels to support more informed decisions.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760720"/>
            <a:ext cx="1920240" cy="320040"/>
          </a:xfrm>
          <a:prstGeom prst="roundRect">
            <a:avLst/>
          </a:prstGeom>
          <a:solidFill>
            <a:srgbClr val="296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779007"/>
            <a:ext cx="18288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WEB APPLICATION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5760720"/>
            <a:ext cx="1874519" cy="320040"/>
          </a:xfrm>
          <a:prstGeom prst="round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5779007"/>
            <a:ext cx="1783079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MYSQL DATABASE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5760720"/>
            <a:ext cx="2286000" cy="320040"/>
          </a:xfrm>
          <a:prstGeom prst="roundRect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80" y="5779007"/>
            <a:ext cx="21945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PREDICTIVE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4233D"/>
                </a:solidFill>
                <a:latin typeface="Aptos"/>
              </a:rPr>
              <a:t>Objectives &amp; 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8813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F6C7D"/>
                </a:solidFill>
                <a:latin typeface="Aptos"/>
              </a:rPr>
              <a:t>Implemented workflow, not a claim of a production-ready university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85800" cy="54864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5F6C7D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14233D"/>
                </a:solidFill>
                <a:latin typeface="Aptos"/>
              </a:rPr>
              <a:t>Core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5029200" cy="3383280"/>
          </a:xfrm>
          <a:prstGeom prst="rect">
            <a:avLst/>
          </a:prstGeom>
          <a:noFill/>
        </p:spPr>
        <p:txBody>
          <a:bodyPr wrap="square" lIns="73152" rIns="54864" b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 Provide role-based login and dashboards</a:t>
            </a:r>
          </a:p>
          <a:p>
            <a:pPr>
              <a:spcAft>
                <a:spcPts val="10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 Show student profile and course registrations</a:t>
            </a:r>
          </a:p>
          <a:p>
            <a:pPr>
              <a:spcAft>
                <a:spcPts val="10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 Allow students to add or drop courses</a:t>
            </a:r>
          </a:p>
          <a:p>
            <a:pPr>
              <a:spcAft>
                <a:spcPts val="10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 Show instructor-assigned sections and enrolled students</a:t>
            </a:r>
          </a:p>
          <a:p>
            <a:pPr>
              <a:spcAft>
                <a:spcPts val="10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 Give administrators a department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645920"/>
            <a:ext cx="49377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14233D"/>
                </a:solidFill>
                <a:latin typeface="Aptos"/>
              </a:rPr>
              <a:t>Predictive analytics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103120"/>
            <a:ext cx="5029200" cy="3108960"/>
          </a:xfrm>
          <a:prstGeom prst="rect">
            <a:avLst/>
          </a:prstGeom>
          <a:noFill/>
        </p:spPr>
        <p:txBody>
          <a:bodyPr wrap="square" lIns="73152" rIns="54864" b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 Display Low / Medium / High risk labels</a:t>
            </a:r>
          </a:p>
          <a:p>
            <a:pPr>
              <a:spcAft>
                <a:spcPts val="10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 Associate risk scores with student–course pairs</a:t>
            </a:r>
          </a:p>
          <a:p>
            <a:pPr>
              <a:spcAft>
                <a:spcPts val="10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 Use risk as decision support—not a guarantee of grades</a:t>
            </a:r>
          </a:p>
          <a:p>
            <a:pPr>
              <a:spcAft>
                <a:spcPts val="10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 Keep prediction generation distinct from risk display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BF4545"/>
                </a:solidFill>
                <a:latin typeface="Aptos"/>
              </a:rPr>
              <a:t>Scope note: the supplied Flask code reads risk labels from MySQL; it does not run a prediction model or expose a re-predict button.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4233D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8813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F6C7D"/>
                </a:solidFill>
                <a:latin typeface="Aptos"/>
              </a:rPr>
              <a:t>The main components and how requests move through the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85800" cy="54864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5F6C7D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063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73152" cy="1965960"/>
          </a:xfrm>
          <a:prstGeom prst="rect">
            <a:avLst/>
          </a:prstGeom>
          <a:solidFill>
            <a:srgbClr val="296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269748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33D"/>
                </a:solidFill>
                <a:latin typeface="Aptos"/>
              </a:rPr>
              <a:t>1  User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32304"/>
            <a:ext cx="2697480" cy="12527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32D3C"/>
                </a:solidFill>
                <a:latin typeface="Aptos"/>
              </a:rPr>
              <a:t>HTML templates
Student • Instructor • Admin dashboards
Forms for login, add and drop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28800"/>
            <a:ext cx="3063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828800"/>
            <a:ext cx="73152" cy="196596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1993392"/>
            <a:ext cx="269748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33D"/>
                </a:solidFill>
                <a:latin typeface="Aptos"/>
              </a:rPr>
              <a:t>2  Flask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432304"/>
            <a:ext cx="2697480" cy="12527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32D3C"/>
                </a:solidFill>
                <a:latin typeface="Aptos"/>
              </a:rPr>
              <a:t>Routes and session checks
Business rules and SQL queries
Render templates with database results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28800"/>
            <a:ext cx="3063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828800"/>
            <a:ext cx="73152" cy="1965960"/>
          </a:xfrm>
          <a:prstGeom prst="rect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1993392"/>
            <a:ext cx="269748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33D"/>
                </a:solidFill>
                <a:latin typeface="Aptos"/>
              </a:rPr>
              <a:t>3  MySQL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432304"/>
            <a:ext cx="2697480" cy="12527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32D3C"/>
                </a:solidFill>
                <a:latin typeface="Aptos"/>
              </a:rPr>
              <a:t>Users, students, instructors
Courses, sections, registrations
Stored ML risk scores</a:t>
            </a:r>
          </a:p>
        </p:txBody>
      </p:sp>
      <p:sp>
        <p:nvSpPr>
          <p:cNvPr id="18" name="Chevron 17"/>
          <p:cNvSpPr/>
          <p:nvPr/>
        </p:nvSpPr>
        <p:spPr>
          <a:xfrm>
            <a:off x="3858768" y="2487168"/>
            <a:ext cx="502920" cy="594360"/>
          </a:xfrm>
          <a:prstGeom prst="chevron">
            <a:avLst/>
          </a:prstGeom>
          <a:solidFill>
            <a:srgbClr val="5F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7653527" y="2487168"/>
            <a:ext cx="502920" cy="594360"/>
          </a:xfrm>
          <a:prstGeom prst="chevron">
            <a:avLst/>
          </a:prstGeom>
          <a:solidFill>
            <a:srgbClr val="5F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89120"/>
            <a:ext cx="1024128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4233D"/>
                </a:solidFill>
                <a:latin typeface="Aptos"/>
              </a:rPr>
              <a:t>Typical request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92040"/>
            <a:ext cx="10332720" cy="8229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232D3C"/>
                </a:solidFill>
                <a:latin typeface="Aptos"/>
              </a:rPr>
              <a:t>User action → Flask route → parameterized SQL query → MySQL result → Jinja template → rendered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97880"/>
            <a:ext cx="100584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F6C7D"/>
                </a:solidFill>
                <a:latin typeface="Aptos"/>
              </a:rPr>
              <a:t>Predictive analytics currently enters this flow through the ml_risk_scores table.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4233D"/>
                </a:solidFill>
                <a:latin typeface="Aptos"/>
              </a:rPr>
              <a:t>Role-Based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8813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F6C7D"/>
                </a:solidFill>
                <a:latin typeface="Aptos"/>
              </a:rPr>
              <a:t>Separate dashboards for different users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85800" cy="54864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5F6C7D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5204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73152" cy="2971800"/>
          </a:xfrm>
          <a:prstGeom prst="rect">
            <a:avLst/>
          </a:prstGeom>
          <a:solidFill>
            <a:srgbClr val="296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315468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33D"/>
                </a:solidFill>
                <a:latin typeface="Aptos"/>
              </a:rPr>
              <a:t>Student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40864"/>
            <a:ext cx="3154680" cy="22585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32D3C"/>
                </a:solidFill>
                <a:latin typeface="Aptos"/>
              </a:rPr>
              <a:t>• View profile and current registrations
• See available courses in own department
• View stored risk level
• Add course subject to credit limit
• Drop a registered course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5204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737360"/>
            <a:ext cx="73152" cy="29718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901952"/>
            <a:ext cx="315468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33D"/>
                </a:solidFill>
                <a:latin typeface="Aptos"/>
              </a:rPr>
              <a:t>Instructor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340864"/>
            <a:ext cx="3154680" cy="22585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32D3C"/>
                </a:solidFill>
                <a:latin typeface="Aptos"/>
              </a:rPr>
              <a:t>• View assigned sections for Fall 2026
• See room and schedule
• View enrolled student list
• See enrollment count derived from query results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737360"/>
            <a:ext cx="35204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737360"/>
            <a:ext cx="73152" cy="2971800"/>
          </a:xfrm>
          <a:prstGeom prst="rect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901952"/>
            <a:ext cx="315468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33D"/>
                </a:solidFill>
                <a:latin typeface="Aptos"/>
              </a:rPr>
              <a:t>Administrator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340864"/>
            <a:ext cx="3154680" cy="22585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32D3C"/>
                </a:solidFill>
                <a:latin typeface="Aptos"/>
              </a:rPr>
              <a:t>• View active departments
• Access is restricted to Admin role
• Current dashboard is a basic overview, not full CRUD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57800"/>
            <a:ext cx="1033272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14233D"/>
                </a:solidFill>
                <a:latin typeface="Aptos"/>
              </a:rPr>
              <a:t>Access control is implemented through Flask session role checks on dashboard and course-action routes.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4233D"/>
                </a:solidFill>
                <a:latin typeface="Aptos"/>
              </a:rP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8813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F6C7D"/>
                </a:solidFill>
                <a:latin typeface="Aptos"/>
              </a:rPr>
              <a:t>MySQL schema and the relationships that support the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85800" cy="54864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5F6C7D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73152" cy="1143000"/>
          </a:xfrm>
          <a:prstGeom prst="rect">
            <a:avLst/>
          </a:prstGeom>
          <a:solidFill>
            <a:srgbClr val="296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56232"/>
            <a:ext cx="237744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33D"/>
                </a:solidFill>
                <a:latin typeface="Aptos"/>
              </a:rPr>
              <a:t>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95144"/>
            <a:ext cx="2377440" cy="429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32D3C"/>
                </a:solidFill>
                <a:latin typeface="Aptos"/>
              </a:rPr>
              <a:t>user_id • email • role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691640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691640"/>
            <a:ext cx="73152" cy="11430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0328" y="1856232"/>
            <a:ext cx="237744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33D"/>
                </a:solidFill>
                <a:latin typeface="Aptos"/>
              </a:rPr>
              <a:t>Students / Instructors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8" y="2295144"/>
            <a:ext cx="2377440" cy="429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32D3C"/>
                </a:solidFill>
                <a:latin typeface="Aptos"/>
              </a:rPr>
              <a:t>Role-specific profile tables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691640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32520" y="1691640"/>
            <a:ext cx="73152" cy="1143000"/>
          </a:xfrm>
          <a:prstGeom prst="rect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33688" y="1856232"/>
            <a:ext cx="237744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33D"/>
                </a:solidFill>
                <a:latin typeface="Aptos"/>
              </a:rPr>
              <a:t>Courses / Sections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2295144"/>
            <a:ext cx="2377440" cy="429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32D3C"/>
                </a:solidFill>
                <a:latin typeface="Aptos"/>
              </a:rPr>
              <a:t>Course catalog and scheduled offerings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703320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703320"/>
            <a:ext cx="73152" cy="1143000"/>
          </a:xfrm>
          <a:prstGeom prst="rect">
            <a:avLst/>
          </a:prstGeom>
          <a:solidFill>
            <a:srgbClr val="296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44368" y="3867911"/>
            <a:ext cx="237744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33D"/>
                </a:solidFill>
                <a:latin typeface="Aptos"/>
              </a:rPr>
              <a:t>Registrations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4368" y="4306824"/>
            <a:ext cx="2377440" cy="429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32D3C"/>
                </a:solidFill>
                <a:latin typeface="Aptos"/>
              </a:rPr>
              <a:t>Student ↔ section/course
Status, grade, dates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3703320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75120" y="3703320"/>
            <a:ext cx="73152" cy="11430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76288" y="3867911"/>
            <a:ext cx="237744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33D"/>
                </a:solidFill>
                <a:latin typeface="Aptos"/>
              </a:rPr>
              <a:t>ml_risk_scores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4306824"/>
            <a:ext cx="2377440" cy="429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32D3C"/>
                </a:solidFill>
                <a:latin typeface="Aptos"/>
              </a:rPr>
              <a:t>Student + course + semester
Risk level + timestamp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429000" y="2267712"/>
            <a:ext cx="1280160" cy="0"/>
          </a:xfrm>
          <a:prstGeom prst="line">
            <a:avLst/>
          </a:prstGeom>
          <a:ln w="19050">
            <a:solidFill>
              <a:srgbClr val="5F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452360" y="2267712"/>
            <a:ext cx="1280160" cy="0"/>
          </a:xfrm>
          <a:prstGeom prst="line">
            <a:avLst/>
          </a:prstGeom>
          <a:ln w="19050">
            <a:solidFill>
              <a:srgbClr val="5F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4114800" y="2834640"/>
            <a:ext cx="1965960" cy="868680"/>
          </a:xfrm>
          <a:prstGeom prst="line">
            <a:avLst/>
          </a:prstGeom>
          <a:ln w="19050">
            <a:solidFill>
              <a:srgbClr val="5F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8046720" y="2834640"/>
            <a:ext cx="1280160" cy="868680"/>
          </a:xfrm>
          <a:prstGeom prst="line">
            <a:avLst/>
          </a:prstGeom>
          <a:ln w="19050">
            <a:solidFill>
              <a:srgbClr val="5F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232D3C"/>
                </a:solidFill>
                <a:latin typeface="Aptos"/>
              </a:rPr>
              <a:t>Foreign keys connect profiles, courses, sections and registrations. The risk table stores labels separately from the registration transaction.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F6C7D"/>
                </a:solidFill>
                <a:latin typeface="Aptos"/>
              </a:rPr>
              <a:t>Schema note: the SQL file defines semesters and prerequisites too; the current app code does not use every 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4233D"/>
                </a:solidFill>
                <a:latin typeface="Aptos"/>
              </a:rPr>
              <a:t>Predictive Analytics: What Is Implemented?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8813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F6C7D"/>
                </a:solidFill>
                <a:latin typeface="Aptos"/>
              </a:rPr>
              <a:t>Be precise about the difference between a model prediction and displaying a saved 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85800" cy="54864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5F6C7D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73152" cy="2057400"/>
          </a:xfrm>
          <a:prstGeom prst="rect">
            <a:avLst/>
          </a:prstGeom>
          <a:solidFill>
            <a:srgbClr val="296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56232"/>
            <a:ext cx="301752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33D"/>
                </a:solidFill>
                <a:latin typeface="Aptos"/>
              </a:rPr>
              <a:t>Data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95144"/>
            <a:ext cx="3017520" cy="1344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32D3C"/>
                </a:solidFill>
                <a:latin typeface="Aptos"/>
              </a:rPr>
              <a:t>ml_risk_scores stores student_id, course_id, semester, risk_level and predicted_at.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691640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691640"/>
            <a:ext cx="73152" cy="20574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856232"/>
            <a:ext cx="301752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33D"/>
                </a:solidFill>
                <a:latin typeface="Aptos"/>
              </a:rPr>
              <a:t>Dashboard display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295144"/>
            <a:ext cx="3017520" cy="1344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32D3C"/>
                </a:solidFill>
                <a:latin typeface="Aptos"/>
              </a:rPr>
              <a:t>Student dashboard uses LEFT JOIN to retrieve the stored risk level for a student–course pair.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691640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691640"/>
            <a:ext cx="73152" cy="2057400"/>
          </a:xfrm>
          <a:prstGeom prst="rect">
            <a:avLst/>
          </a:prstGeom>
          <a:solidFill>
            <a:srgbClr val="B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856232"/>
            <a:ext cx="301752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33D"/>
                </a:solidFill>
                <a:latin typeface="Aptos"/>
              </a:rPr>
              <a:t>What is not shown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295144"/>
            <a:ext cx="3017520" cy="1344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32D3C"/>
                </a:solidFill>
                <a:latin typeface="Aptos"/>
              </a:rPr>
              <a:t>In supplied app.py, no model file is loaded and no prediction/re-prediction route is defined.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103327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4233D"/>
                </a:solidFill>
                <a:latin typeface="Aptos"/>
              </a:rPr>
              <a:t>Current data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36592"/>
            <a:ext cx="1024128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232D3C"/>
                </a:solidFill>
                <a:latin typeface="Aptos"/>
              </a:rPr>
              <a:t>Previously generated/stored risk label → ml_risk_scores → SQL LEFT JOIN → dashboard label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23560"/>
            <a:ext cx="102412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F6C7D"/>
                </a:solidFill>
                <a:latin typeface="Aptos"/>
              </a:rPr>
              <a:t>Future extension: connect a trained model to a prediction service, validate inputs, upsert scores, and add a controlled refresh 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4233D"/>
                </a:solidFill>
                <a:latin typeface="Aptos"/>
              </a:rPr>
              <a:t>Important Application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8813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F6C7D"/>
                </a:solidFill>
                <a:latin typeface="Aptos"/>
              </a:rPr>
              <a:t>Examples of validation and data retrieval in app.py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85800" cy="54864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5F6C7D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747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73152" cy="2286000"/>
          </a:xfrm>
          <a:prstGeom prst="rect">
            <a:avLst/>
          </a:prstGeom>
          <a:solidFill>
            <a:srgbClr val="296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310896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33D"/>
                </a:solidFill>
                <a:latin typeface="Aptos"/>
              </a:rPr>
              <a:t>Credit limit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40864"/>
            <a:ext cx="3108960" cy="1572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32D3C"/>
                </a:solidFill>
                <a:latin typeface="Aptos"/>
              </a:rPr>
              <a:t>Before adding a course, the app sums credits for currently registered courses in Fall 2026 and blocks additions above 40 credits.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737360"/>
            <a:ext cx="34747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737360"/>
            <a:ext cx="73152" cy="22860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01952"/>
            <a:ext cx="310896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33D"/>
                </a:solidFill>
                <a:latin typeface="Aptos"/>
              </a:rPr>
              <a:t>Parameterized 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40864"/>
            <a:ext cx="3108960" cy="1572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32D3C"/>
                </a:solidFill>
                <a:latin typeface="Aptos"/>
              </a:rPr>
              <a:t>Queries use placeholders such as %s with values passed separately, helping avoid SQL injection through those parameters.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737360"/>
            <a:ext cx="34747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0144" y="1737360"/>
            <a:ext cx="73152" cy="2286000"/>
          </a:xfrm>
          <a:prstGeom prst="rect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901952"/>
            <a:ext cx="310896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33D"/>
                </a:solidFill>
                <a:latin typeface="Aptos"/>
              </a:rPr>
              <a:t>Registration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40864"/>
            <a:ext cx="3108960" cy="1572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32D3C"/>
                </a:solidFill>
                <a:latin typeface="Aptos"/>
              </a:rPr>
              <a:t>Add course inserts a Registered record; dropping updates status to Dropped and records a drop date.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26280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4233D"/>
                </a:solidFill>
                <a:latin typeface="Aptos"/>
              </a:rPr>
              <a:t>Implementation caveats to acknowledge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83480"/>
            <a:ext cx="10332720" cy="1097280"/>
          </a:xfrm>
          <a:prstGeom prst="rect">
            <a:avLst/>
          </a:prstGeom>
          <a:noFill/>
        </p:spPr>
        <p:txBody>
          <a:bodyPr wrap="square" lIns="73152" rIns="54864" bIns="18288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32D3C"/>
                </a:solidFill>
                <a:latin typeface="Aptos"/>
              </a:defRPr>
            </a:pPr>
            <a:r>
              <a:t>•  Schema allows up to 44 credits by default, but app.py enforces 40 for a semester.</a:t>
            </a:r>
          </a:p>
          <a:p>
            <a:pPr>
              <a:spcAft>
                <a:spcPts val="400"/>
              </a:spcAft>
              <a:defRPr sz="1200" b="0">
                <a:solidFill>
                  <a:srgbClr val="232D3C"/>
                </a:solidFill>
                <a:latin typeface="Aptos"/>
              </a:defRPr>
            </a:pPr>
            <a:r>
              <a:t>•  The SQL schema and app.py have a few consistency gaps; validate them before a live demo.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4233D"/>
                </a:solidFill>
                <a:latin typeface="Aptos"/>
              </a:rPr>
              <a:t>Live Demonstration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8813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F6C7D"/>
                </a:solidFill>
                <a:latin typeface="Aptos"/>
              </a:rPr>
              <a:t>Keep the demo short, predictable and aligned with implemented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85800" cy="54864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5F6C7D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45920"/>
            <a:ext cx="594360" cy="320040"/>
          </a:xfrm>
          <a:prstGeom prst="round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502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636776"/>
            <a:ext cx="20574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4233D"/>
                </a:solidFill>
                <a:latin typeface="Aptos"/>
              </a:rPr>
              <a:t>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636776"/>
            <a:ext cx="71323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232D3C"/>
                </a:solidFill>
                <a:latin typeface="Aptos"/>
              </a:rPr>
              <a:t>Use a prepared demo account for each role.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487168"/>
            <a:ext cx="594360" cy="320040"/>
          </a:xfrm>
          <a:prstGeom prst="round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05456"/>
            <a:ext cx="502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478024"/>
            <a:ext cx="20574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4233D"/>
                </a:solidFill>
                <a:latin typeface="Aptos"/>
              </a:rPr>
              <a:t>Student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478024"/>
            <a:ext cx="71323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232D3C"/>
                </a:solidFill>
                <a:latin typeface="Aptos"/>
              </a:rPr>
              <a:t>Show profile, registered courses, available courses and risk labels.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328416"/>
            <a:ext cx="594360" cy="320040"/>
          </a:xfrm>
          <a:prstGeom prst="round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46704"/>
            <a:ext cx="502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319272"/>
            <a:ext cx="20574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4233D"/>
                </a:solidFill>
                <a:latin typeface="Aptos"/>
              </a:rPr>
              <a:t>Registration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319272"/>
            <a:ext cx="71323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232D3C"/>
                </a:solidFill>
                <a:latin typeface="Aptos"/>
              </a:rPr>
              <a:t>Add a suitable course and explain the credit-limit check.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169664"/>
            <a:ext cx="594360" cy="320040"/>
          </a:xfrm>
          <a:prstGeom prst="roundRect">
            <a:avLst/>
          </a:prstGeom>
          <a:solidFill>
            <a:srgbClr val="296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87952"/>
            <a:ext cx="502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160520"/>
            <a:ext cx="20574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4233D"/>
                </a:solidFill>
                <a:latin typeface="Aptos"/>
              </a:rPr>
              <a:t>Drop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4160520"/>
            <a:ext cx="71323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232D3C"/>
                </a:solidFill>
                <a:latin typeface="Aptos"/>
              </a:rPr>
              <a:t>Demonstrate status change only if safe test data is available.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010912"/>
            <a:ext cx="594360" cy="320040"/>
          </a:xfrm>
          <a:prstGeom prst="roundRect">
            <a:avLst/>
          </a:prstGeom>
          <a:solidFill>
            <a:srgbClr val="296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029200"/>
            <a:ext cx="502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001768"/>
            <a:ext cx="20574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4233D"/>
                </a:solidFill>
                <a:latin typeface="Aptos"/>
              </a:rPr>
              <a:t>Instructor /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5001768"/>
            <a:ext cx="71323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232D3C"/>
                </a:solidFill>
                <a:latin typeface="Aptos"/>
              </a:rPr>
              <a:t>Show assigned sections and department list.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989320"/>
            <a:ext cx="103327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BF4545"/>
                </a:solidFill>
                <a:latin typeface="Aptos"/>
              </a:rPr>
              <a:t>Before presenting: verify database connection, test accounts, semester labels, and that demo actions will not damage real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4233D"/>
                </a:solidFill>
                <a:latin typeface="Aptos"/>
              </a:rP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8813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F6C7D"/>
                </a:solidFill>
                <a:latin typeface="Aptos"/>
              </a:rPr>
              <a:t>A credible prototype is explicit about what comes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85800" cy="54864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5F6C7D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749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73152" cy="3200400"/>
          </a:xfrm>
          <a:prstGeom prst="rect">
            <a:avLst/>
          </a:prstGeom>
          <a:solidFill>
            <a:srgbClr val="B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4709159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33D"/>
                </a:solidFill>
                <a:latin typeface="Aptos"/>
              </a:rP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40864"/>
            <a:ext cx="4709159" cy="2487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32D3C"/>
                </a:solidFill>
                <a:latin typeface="Aptos"/>
              </a:rPr>
              <a:t>• Risk prediction generation not wired into app.py
• No re-predict button in supplied template
• Admin dashboard only lists departments
• Prerequisite / waitlist / semester tables are not fully used
• Passwords appear to be compared as plain text in current login query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0749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737360"/>
            <a:ext cx="73152" cy="32004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901952"/>
            <a:ext cx="4709159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33D"/>
                </a:solidFill>
                <a:latin typeface="Aptos"/>
              </a:rPr>
              <a:t>Future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340864"/>
            <a:ext cx="4709159" cy="2487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32D3C"/>
                </a:solidFill>
                <a:latin typeface="Aptos"/>
              </a:rPr>
              <a:t>• Integrate trained model inference and score refresh
• Add input validation and safer password hashing
• Add prerequisite, waitlist and registration-window checks
• Build admin CRUD and reporting
• Add tests, logging and deployment hardening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394960"/>
            <a:ext cx="1033272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4233D"/>
                </a:solidFill>
                <a:latin typeface="Aptos"/>
              </a:rPr>
              <a:t>Design principle: risk labels should support academic advising, not replace student or instructor judgment.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42416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A0DCD5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987552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One workflow. Three roles.
Risk-aware course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063240"/>
            <a:ext cx="9875520" cy="10515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D8E2F0"/>
                </a:solidFill>
                <a:latin typeface="Aptos"/>
              </a:rPr>
              <a:t>The project combines a Flask web application, a relational MySQL schema, and a dashboard path for displaying stored student–course risk labels.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617720"/>
            <a:ext cx="9875520" cy="6858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623560"/>
            <a:ext cx="1024128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BECADA"/>
                </a:solidFill>
                <a:latin typeface="Aptos"/>
              </a:rPr>
              <a:t>Questions &amp; Discussion  •  Jivansh, Koustubh Sarkar, Khusi Patra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